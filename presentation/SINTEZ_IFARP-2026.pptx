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6bc45157-3f37-d94f-f974-e20c2747330e}">
          <p14:sldIdLst>
            <p14:sldId id="256"/>
            <p14:sldId id="257"/>
          </p14:sldIdLst>
        </p14:section>
        <p14:section name="Жүйе" id="{444254a2-60b9-f48e-49a7-b6443a64e710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Валидация" id="{69199a13-297d-1467-ca75-737c2bb40404}">
          <p14:sldIdLst>
            <p14:sldId id="264"/>
          </p14:sldIdLst>
        </p14:section>
        <p14:section name="AI" id="{e28c09b4-70dc-cf79-21d6-853e4e63ba4e}">
          <p14:sldIdLst>
            <p14:sldId id="265"/>
            <p14:sldId id="266"/>
            <p14:sldId id="267"/>
          </p14:sldIdLst>
        </p14:section>
        <p14:section name="Қорытынды" id="{69057711-3278-716d-70f7-765d37ad0d76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9AA6D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9AA6D0"/>
                </a:solidFill>
                <a:latin typeface="+mn-lt"/>
              </a:rPr>
              <a:t>Номиналды плазма тогы, МА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Плазма тогы, МА</c:v>
                </c:pt>
              </c:strCache>
            </c:strRef>
          </c:tx>
          <c:spPr>
            <a:solidFill>
              <a:srgbClr val="3EE0F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3EE0F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FB24A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EU-DEMO</c:v>
                  </c:pt>
                  <c:pt idx="1">
                    <c:v>ITER</c:v>
                  </c:pt>
                  <c:pt idx="2">
                    <c:v>SPARC</c:v>
                  </c:pt>
                  <c:pt idx="3">
                    <c:v>JET</c:v>
                  </c:pt>
                  <c:pt idx="4">
                    <c:v>DIII-D</c:v>
                  </c:pt>
                  <c:pt idx="5">
                    <c:v>KSTAR</c:v>
                  </c:pt>
                  <c:pt idx="6">
                    <c:v>T-15MD</c:v>
                  </c:pt>
                  <c:pt idx="7">
                    <c:v>NSTX-U</c:v>
                  </c:pt>
                  <c:pt idx="8">
                    <c:v>MAST-U</c:v>
                  </c:pt>
                  <c:pt idx="9">
                    <c:v>EAST</c:v>
                  </c:pt>
                  <c:pt idx="10">
                    <c:v>NSTX</c:v>
                  </c:pt>
                  <c:pt idx="11">
                    <c:v>KTM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17.75</c:v>
                </c:pt>
                <c:pt idx="1">
                  <c:v>15</c:v>
                </c:pt>
                <c:pt idx="2">
                  <c:v>8.7</c:v>
                </c:pt>
                <c:pt idx="3">
                  <c:v>4.8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1</c:v>
                </c:pt>
                <c:pt idx="10">
                  <c:v>1</c:v>
                </c:pt>
                <c:pt idx="11">
                  <c:v>0.75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EEF1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9AA6D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9AA6D0"/>
                </a:solidFill>
                <a:latin typeface="+mn-lt"/>
              </a:rPr>
              <a:t>Орын қатесі, мм (30 сид, рандомдалған плант)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 орын қатесі, мм</c:v>
                </c:pt>
              </c:strCache>
            </c:strRef>
          </c:tx>
          <c:spPr>
            <a:solidFill>
              <a:srgbClr val="FFB2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B2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8C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8C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E3A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ПИД</c:v>
                  </c:pt>
                  <c:pt idx="1">
                    <c:v>PPO-0</c:v>
                  </c:pt>
                  <c:pt idx="2">
                    <c:v>PPO-DR</c:v>
                  </c:pt>
                  <c:pt idx="3">
                    <c:v>PPO-DR-AC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5.6</c:v>
                </c:pt>
                <c:pt idx="2">
                  <c:v>6</c:v>
                </c:pt>
                <c:pt idx="3">
                  <c:v>6.3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EEF1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EF1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Сәлеметсіздер ме! Біз SINTEZ жобасын таныстырамыз: бұл токамактағы D–T синтез процесін нақты физика теңдеулерімен нақты уақытта есептейтін интерактивті симулятор. Жоба Қазақстан Республикасында авторлық құқықпен тіркелген (№ 78976).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көп оқу құралдары — дайын анимация. Бізде плазма күйі әр кадрда физика теңдеулерінен есептеледі, сондықтан оператор қыздыруды, тоқты, өрісті өзгертіп, нәтижесін бірден көреді.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Клиент JavaScript пен WebGL 2.0-де жұмыс істейді. Физика пакеті Python-да, FastAPI арқылы HTTP/JSON беріледі. ML және басқару модульдері сол API-ға қосылған. Бәрі Railway-да бір процесс ретінде жұмыс істейді.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екі деңгейде: 0-өлшемді баланс және 1.5-өлшемді радиалды профильдер. Үстіне МГД тұрақтылығы, дизрупциялар, шеткі қабат пен дивертор, отын циклі қосылған.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Негізгі теңдеулер: энергия балансы, синтез қуаты, IPB98(y,2) ұстау уақыты скейлингі, 1D тасымал теңдеуі, Град–Шафранов тепе-теңдігі және Тройон шегі. Бесеуі бірге жұмыс істейтін бір модельді құрайды.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Бұл сайттың нақты скриншоты. Тораптар нөмірленген, әрқайсысы туралы түсіндірме бар. Қолданушы реакторға кіріп, плазманың ішін көре алады.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Басқару кабинасында 40-тан астам диагностикалық панель. Скриншотта ITER класты режим: Q шамамен 9.7, синтез қуаты 485 МВт. Оператор қыздыруды, газды, тоқты және өрісті өзгерте алады, пеллет пен ELM импульсін, тіпті дизрупцияны іске қоса алады.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Симуляторда 12 құрылғы: ITER, EU-DEMO, SPARC, JET, DIII-D, EAST, KSTAR, T-15MD, NSTX, NSTX-U, MAST-U және Қазақстан материалтану токамағы KTM. Барлығы бір модельде салыстырылады. Параметрлер жобаның machines.py файлынан алынған.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Валидация автоматты: 30 шама ITER Q=10 жобалық режимімен салыстырылды, орташа ауытқу 0.93 %, ең үлкені 5.52 % (электрон температурасы), толерантттан шыққаны жоқ. Python жағында 79 компонент тексеруі өтті. Валидацияланбаған тұстардың тізімі ашық жазылған.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TORAX — Google DeepMind-тың ашық коды: JAX негізінде, дифференциалданатын өзек тасымалы симуляторы, QLKNN нейрожелілік суррогатымен және RAPTOR-мен салыстырылған. Біздің жұмыс басқа міндетті шешеді: интерактивті көпфизикалы симулятор. Біз TORAX-стиліндегі суррогатты жасадық, бірақ ол QuaLiKiz-ке емес, өз заңдарымызға оқытылған — сондықтан жылдамдық бермейді. Мұны ашық айтамыз. Дереккөздер: Citrin et al., arXiv:2406.06718; github.com/google-deepmind/torax.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Бірінші модель — тасымал суррогаты: 11 локальды белгіден (R/L_T, q, Te, ne, ...) жылу өткізгіштік χ-ны болжайтын MLP, 65 мың үлгіде оқытылған, тест R² 0.943, MAE 0.76 м²/с. Екінші — RL-контроллер: алдымен эксперт ПД-реттегіштен behaviour cloning, содан кейін PPO, плантты рандомизациялаумен. Барлық сан скриптті іске қосқанда алынды.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Тұйық контур: симулятор — датчиктер мен кідіріс — нейрожелілік контроллер — QP қауіпсіздік сүзгісі — катушкаларға кернеу. Плазма тік тұрақсыз, тіпті ашық контурда 30 эпизодтың тек 2-інде ғана аман қалады. Рандомдалған плантта ПИД 30-дан 24-те, PPO 28-де аман қалды, орын қатесі 22 мм-ден 6 мм-ге дейін азайды. Бұл тек модельдеу нәтижесі, нақты қондырғыда тексерілмеген.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SINTEZ Қазақстан Республикасының Ұлттық зияткерлік меншік институтында авторлық құқықпен тіркелген: куәлік № 78976, 2026 жылғы 28 қыркүйек. Құжаттың түпнұсқалығын kazpatent.kz сайтында тексеруге болады.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Қорытынды: симулятор физиканы нақты уақытта есептейді және ITER режимімен 1 % шамасында сәйкес келеді. Шектеулерді ашық айтамыз: тасымал эмпирикалық, МГД редукцияланған, суррогат әзірге өз заңдарымыздан оқытылған, контроллер симуляцияда ғана тексерілген. Келесі қадам — нақты тәжірибелік деректер.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Назарларыңызға рақмет! QR-код арқылы SINTEZ симуляторын онлайн ашуға болады. Сұрақтарыңызға дайынмын.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SINTEZ · IFARP-2026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NTEZ: токамактың 3D қимасы (сайттан скриншот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411480"/>
            <a:ext cx="3703320" cy="33467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IFARP-2026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60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SINTEZ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Токамак реакторындағы D–T термоядролық синтез процесін нақты физикалық модельдер арқылы есептейтін интерактивті симулятор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84048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Уәлихан А.Ш., Ермекұлы Б.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1879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Қожа Ахмет Яссауи атындағы Халықаралық қазақ-түрік университеті, Түркістан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Мәселе және мақсат</a:t>
            </a:r>
            <a:endParaRPr lang="en-US" sz="3000" dirty="0"/>
          </a:p>
        </p:txBody>
      </p:sp>
      <p:sp>
        <p:nvSpPr>
          <p:cNvPr id="3" name="мәселе"/>
          <p:cNvSpPr/>
          <p:nvPr/>
        </p:nvSpPr>
        <p:spPr>
          <a:xfrm>
            <a:off x="457200" y="1097280"/>
            <a:ext cx="48463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1615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МӘСЕЛЕ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Оқу және көрсету құралдарының көбі — алдын ала жазылған анимация. Олар жұмыс режимі плазма параметрлеріне қалай әсер ететінін көрсетпейді.</a:t>
            </a:r>
            <a:endParaRPr lang="en-US" sz="1700" dirty="0"/>
          </a:p>
        </p:txBody>
      </p:sp>
      <p:sp>
        <p:nvSpPr>
          <p:cNvPr id="6" name="мақсат"/>
          <p:cNvSpPr/>
          <p:nvPr/>
        </p:nvSpPr>
        <p:spPr>
          <a:xfrm>
            <a:off x="457200" y="2880360"/>
            <a:ext cx="4846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999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МАҚСАТ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29184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Плазма күйі магниттік ұстау физикасының теңдеулерін нақты уақытта шешу арқылы алынатын интерактивті симулятор жасау.</a:t>
            </a:r>
            <a:endParaRPr lang="en-US" sz="1700" dirty="0"/>
          </a:p>
        </p:txBody>
      </p:sp>
      <p:sp>
        <p:nvSpPr>
          <p:cNvPr id="9" name="көрсеткіш 12"/>
          <p:cNvSpPr/>
          <p:nvPr/>
        </p:nvSpPr>
        <p:spPr>
          <a:xfrm>
            <a:off x="5577840" y="1097280"/>
            <a:ext cx="310896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7739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құрылғы бір модельде, KTM қоса</a:t>
            </a:r>
            <a:endParaRPr lang="en-US" sz="1400" dirty="0"/>
          </a:p>
        </p:txBody>
      </p:sp>
      <p:sp>
        <p:nvSpPr>
          <p:cNvPr id="12" name="көрсеткіш 40+"/>
          <p:cNvSpPr/>
          <p:nvPr/>
        </p:nvSpPr>
        <p:spPr>
          <a:xfrm>
            <a:off x="5577840" y="2322576"/>
            <a:ext cx="310896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4140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40+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9992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диагностикалық панель</a:t>
            </a:r>
            <a:endParaRPr lang="en-US" sz="1400" dirty="0"/>
          </a:p>
        </p:txBody>
      </p:sp>
      <p:sp>
        <p:nvSpPr>
          <p:cNvPr id="15" name="көрсеткіш 60 к/с"/>
          <p:cNvSpPr/>
          <p:nvPr/>
        </p:nvSpPr>
        <p:spPr>
          <a:xfrm>
            <a:off x="5577840" y="3547872"/>
            <a:ext cx="310896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63931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60 к/с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42245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WebGL 2.0, 3D реактор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Жүйенің архитектурасы</a:t>
            </a:r>
            <a:endParaRPr lang="en-US" sz="3000" dirty="0"/>
          </a:p>
        </p:txBody>
      </p:sp>
      <p:sp>
        <p:nvSpPr>
          <p:cNvPr id="3" name="клиент"/>
          <p:cNvSpPr/>
          <p:nvPr/>
        </p:nvSpPr>
        <p:spPr>
          <a:xfrm>
            <a:off x="457200" y="1097280"/>
            <a:ext cx="2468880" cy="26974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БРАУЗЕР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2148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JavaScript · WebGL 2.0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3D реактор, 60 к/с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40+ диагностика панелі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0D модель (physics.js)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Басқару элементтері</a:t>
            </a:r>
            <a:endParaRPr lang="en-US" sz="1400" dirty="0"/>
          </a:p>
        </p:txBody>
      </p:sp>
      <p:sp>
        <p:nvSpPr>
          <p:cNvPr id="6" name="api"/>
          <p:cNvSpPr/>
          <p:nvPr/>
        </p:nvSpPr>
        <p:spPr>
          <a:xfrm>
            <a:off x="3611880" y="1097280"/>
            <a:ext cx="1783080" cy="26974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49040" y="1207008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3"/>
                </a:solidFill>
              </a:rPr>
              <a:t>API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554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FastAPI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01168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Python 3.11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HTTP / JSON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/models, /ml, /control</a:t>
            </a:r>
            <a:endParaRPr lang="en-US" sz="1400" dirty="0"/>
          </a:p>
        </p:txBody>
      </p:sp>
      <p:sp>
        <p:nvSpPr>
          <p:cNvPr id="10" name="arrow"/>
          <p:cNvSpPr/>
          <p:nvPr/>
        </p:nvSpPr>
        <p:spPr>
          <a:xfrm>
            <a:off x="2926080" y="2441448"/>
            <a:ext cx="6858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arrow"/>
          <p:cNvSpPr/>
          <p:nvPr/>
        </p:nvSpPr>
        <p:spPr>
          <a:xfrm flipH="1">
            <a:off x="2926080" y="2743200"/>
            <a:ext cx="6858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2" name="блок Физика пакеті"/>
          <p:cNvSpPr/>
          <p:nvPr/>
        </p:nvSpPr>
        <p:spPr>
          <a:xfrm>
            <a:off x="5897880" y="1097280"/>
            <a:ext cx="2788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53328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Физика пакеті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53328" y="148132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0D · 1.5D · МГД · дизрупция · SOL/дивертор · отын циклі</a:t>
            </a:r>
            <a:endParaRPr lang="en-US" sz="1300" dirty="0"/>
          </a:p>
        </p:txBody>
      </p:sp>
      <p:sp>
        <p:nvSpPr>
          <p:cNvPr id="15" name="блок ML модульдері"/>
          <p:cNvSpPr/>
          <p:nvPr/>
        </p:nvSpPr>
        <p:spPr>
          <a:xfrm>
            <a:off x="5897880" y="2212848"/>
            <a:ext cx="27889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23042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ML модульдері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53328" y="2596896"/>
            <a:ext cx="2514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суррогат, үзіліс болжау, тепе-теңдік</a:t>
            </a:r>
            <a:endParaRPr lang="en-US" sz="1300" dirty="0"/>
          </a:p>
        </p:txBody>
      </p:sp>
      <p:sp>
        <p:nvSpPr>
          <p:cNvPr id="18" name="блок Магниттік басқару"/>
          <p:cNvSpPr/>
          <p:nvPr/>
        </p:nvSpPr>
        <p:spPr>
          <a:xfrm>
            <a:off x="5897880" y="3099816"/>
            <a:ext cx="2788920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53328" y="31912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Магниттік басқару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53328" y="34838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 кГц ко-симуляция, PPO + QP</a:t>
            </a:r>
            <a:endParaRPr lang="en-US" sz="1300" dirty="0"/>
          </a:p>
        </p:txBody>
      </p:sp>
      <p:sp>
        <p:nvSpPr>
          <p:cNvPr id="21" name="arrow"/>
          <p:cNvSpPr/>
          <p:nvPr/>
        </p:nvSpPr>
        <p:spPr>
          <a:xfrm flipV="1">
            <a:off x="5394960" y="1600200"/>
            <a:ext cx="502920" cy="841248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arrow"/>
          <p:cNvSpPr/>
          <p:nvPr/>
        </p:nvSpPr>
        <p:spPr>
          <a:xfrm>
            <a:off x="5394960" y="2514600"/>
            <a:ext cx="502920" cy="914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arrow"/>
          <p:cNvSpPr/>
          <p:nvPr/>
        </p:nvSpPr>
        <p:spPr>
          <a:xfrm>
            <a:off x="5394960" y="2606040"/>
            <a:ext cx="502920" cy="841248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4" name="орналастыру"/>
          <p:cNvSpPr/>
          <p:nvPr/>
        </p:nvSpPr>
        <p:spPr>
          <a:xfrm>
            <a:off x="457200" y="4005072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00507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Railway: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бір процесс (uvicorn) сайтты да, API-ды да береді.  Интерфейс пен құжаттама — толық қазақ тілінде.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Физикалық модельдер</a:t>
            </a:r>
            <a:endParaRPr lang="en-US" sz="3000" dirty="0"/>
          </a:p>
        </p:txBody>
      </p:sp>
      <p:sp>
        <p:nvSpPr>
          <p:cNvPr id="3" name="карта 0D модель"/>
          <p:cNvSpPr/>
          <p:nvPr/>
        </p:nvSpPr>
        <p:spPr>
          <a:xfrm>
            <a:off x="457200" y="1097280"/>
            <a:ext cx="2651760" cy="1664208"/>
          </a:xfrm>
          <a:prstGeom prst="roundRect">
            <a:avLst>
              <a:gd name="adj" fmla="val 439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621792" y="124358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43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2435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0D модель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64208"/>
            <a:ext cx="2340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Энергия және бөлшек балансы, Bosch–Hale ⟨σv⟩, тежеу және синхротрон шығыны, гелий күлі</a:t>
            </a:r>
            <a:endParaRPr lang="en-US" sz="1450" dirty="0"/>
          </a:p>
        </p:txBody>
      </p:sp>
      <p:sp>
        <p:nvSpPr>
          <p:cNvPr id="8" name="карта 1.5D модель"/>
          <p:cNvSpPr/>
          <p:nvPr/>
        </p:nvSpPr>
        <p:spPr>
          <a:xfrm>
            <a:off x="3246120" y="1097280"/>
            <a:ext cx="2651760" cy="1664208"/>
          </a:xfrm>
          <a:prstGeom prst="roundRect">
            <a:avLst>
              <a:gd name="adj" fmla="val 439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3410712" y="124358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0712" y="1243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13048" y="12435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1.5D модель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1664208"/>
            <a:ext cx="2340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Град–Шафранов тепе-теңдігі, жылу және бөлшек тасымалы, педестал, ток диффузиясы</a:t>
            </a:r>
            <a:endParaRPr lang="en-US" sz="1450" dirty="0"/>
          </a:p>
        </p:txBody>
      </p:sp>
      <p:sp>
        <p:nvSpPr>
          <p:cNvPr id="13" name="карта МГД тұрақтылығы"/>
          <p:cNvSpPr/>
          <p:nvPr/>
        </p:nvSpPr>
        <p:spPr>
          <a:xfrm>
            <a:off x="6035040" y="1097280"/>
            <a:ext cx="2651760" cy="1664208"/>
          </a:xfrm>
          <a:prstGeom prst="roundRect">
            <a:avLst>
              <a:gd name="adj" fmla="val 439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6199632" y="1243584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9632" y="1243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01968" y="12435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МГД тұрақтылығы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1664208"/>
            <a:ext cx="2340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Тройон шегі, RWM, баллондық шекара, NTM, Кадомцев, ELM циклі</a:t>
            </a:r>
            <a:endParaRPr lang="en-US" sz="1450" dirty="0"/>
          </a:p>
        </p:txBody>
      </p:sp>
      <p:sp>
        <p:nvSpPr>
          <p:cNvPr id="18" name="карта Дизрупциялар"/>
          <p:cNvSpPr/>
          <p:nvPr/>
        </p:nvSpPr>
        <p:spPr>
          <a:xfrm>
            <a:off x="457200" y="2907792"/>
            <a:ext cx="2651760" cy="1664208"/>
          </a:xfrm>
          <a:prstGeom prst="roundRect">
            <a:avLst>
              <a:gd name="adj" fmla="val 439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621792" y="3054096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540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Дизрупциялар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3474720"/>
            <a:ext cx="2340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Термиялық және ток өшуі, қашқын электрондар, гало тоқтары, VDE</a:t>
            </a:r>
            <a:endParaRPr lang="en-US" sz="1450" dirty="0"/>
          </a:p>
        </p:txBody>
      </p:sp>
      <p:sp>
        <p:nvSpPr>
          <p:cNvPr id="23" name="карта Шеткі қабат"/>
          <p:cNvSpPr/>
          <p:nvPr/>
        </p:nvSpPr>
        <p:spPr>
          <a:xfrm>
            <a:off x="3246120" y="2907792"/>
            <a:ext cx="2651760" cy="1664208"/>
          </a:xfrm>
          <a:prstGeom prst="roundRect">
            <a:avLst>
              <a:gd name="adj" fmla="val 439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24" name="badge 5"/>
          <p:cNvSpPr/>
          <p:nvPr/>
        </p:nvSpPr>
        <p:spPr>
          <a:xfrm>
            <a:off x="3410712" y="3054096"/>
            <a:ext cx="310896" cy="31089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10712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813048" y="30540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Шеткі қабат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410712" y="3474720"/>
            <a:ext cx="2340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Екі нүктелі дивертор моделі, Eich λ</a:t>
            </a:r>
            <a:pPr indent="0" marL="0">
              <a:buNone/>
            </a:pPr>
            <a:r>
              <a:rPr lang="en-US" sz="1450" baseline="-40000" dirty="0">
                <a:solidFill>
                  <a:schemeClr val="tx1"/>
                </a:solidFill>
              </a:rPr>
              <a:t>q</a:t>
            </a:r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, қоспаны себу</a:t>
            </a:r>
            <a:endParaRPr lang="en-US" sz="1450" dirty="0"/>
          </a:p>
        </p:txBody>
      </p:sp>
      <p:sp>
        <p:nvSpPr>
          <p:cNvPr id="28" name="карта Отын циклі"/>
          <p:cNvSpPr/>
          <p:nvPr/>
        </p:nvSpPr>
        <p:spPr>
          <a:xfrm>
            <a:off x="6035040" y="2907792"/>
            <a:ext cx="2651760" cy="1664208"/>
          </a:xfrm>
          <a:prstGeom prst="roundRect">
            <a:avLst>
              <a:gd name="adj" fmla="val 439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29" name="badge 6"/>
          <p:cNvSpPr/>
          <p:nvPr/>
        </p:nvSpPr>
        <p:spPr>
          <a:xfrm>
            <a:off x="6199632" y="3054096"/>
            <a:ext cx="310896" cy="3108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99632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601968" y="30540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Отын циклі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199632" y="3474720"/>
            <a:ext cx="2340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Тритий өсіру, нейтрон жүктемесі, таза электр қуаты, Q</a:t>
            </a:r>
            <a:pPr indent="0" marL="0">
              <a:buNone/>
            </a:pPr>
            <a:r>
              <a:rPr lang="en-US" sz="1450" baseline="-40000" dirty="0">
                <a:solidFill>
                  <a:schemeClr val="tx1"/>
                </a:solidFill>
              </a:rPr>
              <a:t>eng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Негізгі теңдеулер</a:t>
            </a:r>
            <a:endParaRPr lang="en-US" sz="3000" dirty="0"/>
          </a:p>
        </p:txBody>
      </p:sp>
      <p:sp>
        <p:nvSpPr>
          <p:cNvPr id="3" name="формула Энергия балансы (0D)"/>
          <p:cNvSpPr/>
          <p:nvPr/>
        </p:nvSpPr>
        <p:spPr>
          <a:xfrm>
            <a:off x="457200" y="109728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70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Энергия балансы (0D)</a:t>
            </a:r>
            <a:endParaRPr lang="en-US" sz="1200" dirty="0"/>
          </a:p>
        </p:txBody>
      </p:sp>
      <p:pic>
        <p:nvPicPr>
          <p:cNvPr id="5" name="Image 0" descr="формула f_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92608"/>
            <a:ext cx="3291840" cy="417521"/>
          </a:xfrm>
          <a:prstGeom prst="rect">
            <a:avLst/>
          </a:prstGeom>
        </p:spPr>
      </p:pic>
      <p:sp>
        <p:nvSpPr>
          <p:cNvPr id="6" name="формула Синтез қуаты"/>
          <p:cNvSpPr/>
          <p:nvPr/>
        </p:nvSpPr>
        <p:spPr>
          <a:xfrm>
            <a:off x="4663440" y="109728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46320" y="1170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Синтез қуаты</a:t>
            </a:r>
            <a:endParaRPr lang="en-US" sz="1200" dirty="0"/>
          </a:p>
        </p:txBody>
      </p:sp>
      <p:pic>
        <p:nvPicPr>
          <p:cNvPr id="8" name="Image 1" descr="формула f_fu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612049"/>
            <a:ext cx="3749040" cy="378637"/>
          </a:xfrm>
          <a:prstGeom prst="rect">
            <a:avLst/>
          </a:prstGeom>
        </p:spPr>
      </p:pic>
      <p:sp>
        <p:nvSpPr>
          <p:cNvPr id="9" name="формула Ұстау уақыты IPB98(y,2)"/>
          <p:cNvSpPr/>
          <p:nvPr/>
        </p:nvSpPr>
        <p:spPr>
          <a:xfrm>
            <a:off x="457200" y="228600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Ұстау уақыты IPB98(y,2)</a:t>
            </a:r>
            <a:endParaRPr lang="en-US" sz="1200" dirty="0"/>
          </a:p>
        </p:txBody>
      </p:sp>
      <p:pic>
        <p:nvPicPr>
          <p:cNvPr id="11" name="Image 2" descr="формула f_ip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66558"/>
            <a:ext cx="3200400" cy="647060"/>
          </a:xfrm>
          <a:prstGeom prst="rect">
            <a:avLst/>
          </a:prstGeom>
        </p:spPr>
      </p:pic>
      <p:sp>
        <p:nvSpPr>
          <p:cNvPr id="12" name="формула Жылу тасымалы (1D)"/>
          <p:cNvSpPr/>
          <p:nvPr/>
        </p:nvSpPr>
        <p:spPr>
          <a:xfrm>
            <a:off x="4663440" y="228600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4632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Жылу тасымалы (1D)</a:t>
            </a:r>
            <a:endParaRPr lang="en-US" sz="1200" dirty="0"/>
          </a:p>
        </p:txBody>
      </p:sp>
      <p:pic>
        <p:nvPicPr>
          <p:cNvPr id="14" name="Image 3" descr="формула f_transpo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738452"/>
            <a:ext cx="3749040" cy="503271"/>
          </a:xfrm>
          <a:prstGeom prst="rect">
            <a:avLst/>
          </a:prstGeom>
        </p:spPr>
      </p:pic>
      <p:sp>
        <p:nvSpPr>
          <p:cNvPr id="15" name="формула Град–Шафранов теңдеуі"/>
          <p:cNvSpPr/>
          <p:nvPr/>
        </p:nvSpPr>
        <p:spPr>
          <a:xfrm>
            <a:off x="45720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0080" y="35478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Град–Шафранов теңдеуі</a:t>
            </a:r>
            <a:endParaRPr lang="en-US" sz="1200" dirty="0"/>
          </a:p>
        </p:txBody>
      </p:sp>
      <p:pic>
        <p:nvPicPr>
          <p:cNvPr id="17" name="Image 4" descr="формула f_g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988911"/>
            <a:ext cx="3566160" cy="379793"/>
          </a:xfrm>
          <a:prstGeom prst="rect">
            <a:avLst/>
          </a:prstGeom>
        </p:spPr>
      </p:pic>
      <p:sp>
        <p:nvSpPr>
          <p:cNvPr id="18" name="формула Тройон шегі"/>
          <p:cNvSpPr/>
          <p:nvPr/>
        </p:nvSpPr>
        <p:spPr>
          <a:xfrm>
            <a:off x="466344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846320" y="35478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Тройон шегі</a:t>
            </a:r>
            <a:endParaRPr lang="en-US" sz="1200" dirty="0"/>
          </a:p>
        </p:txBody>
      </p:sp>
      <p:pic>
        <p:nvPicPr>
          <p:cNvPr id="20" name="Image 5" descr="формула f_troy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961694"/>
            <a:ext cx="1828800" cy="4342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Интерфейс: 3D токамак</a:t>
            </a:r>
            <a:endParaRPr lang="en-US" sz="3000" dirty="0"/>
          </a:p>
        </p:txBody>
      </p:sp>
      <p:pic>
        <p:nvPicPr>
          <p:cNvPr id="3" name="Image 0" descr="Сайттан скриншот: токамактың негізгі тораптар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30449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452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Сайттан алынған скриншот</a:t>
            </a:r>
            <a:endParaRPr lang="en-US" sz="1100" dirty="0"/>
          </a:p>
        </p:txBody>
      </p:sp>
      <p:sp>
        <p:nvSpPr>
          <p:cNvPr id="5" name="тезис 1"/>
          <p:cNvSpPr/>
          <p:nvPr/>
        </p:nvSpPr>
        <p:spPr>
          <a:xfrm>
            <a:off x="6080760" y="1097280"/>
            <a:ext cx="2606040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170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Белгіленген 3D модель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463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плазма камерасы, бірінші қабырға, магниттер, криостат</a:t>
            </a:r>
            <a:endParaRPr lang="en-US" sz="1250" dirty="0"/>
          </a:p>
        </p:txBody>
      </p:sp>
      <p:sp>
        <p:nvSpPr>
          <p:cNvPr id="8" name="тезис 2"/>
          <p:cNvSpPr/>
          <p:nvPr/>
        </p:nvSpPr>
        <p:spPr>
          <a:xfrm>
            <a:off x="6080760" y="2121408"/>
            <a:ext cx="2606040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0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Плазма ядросына ұшу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4871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7 секундтық кіру кезінде модель жұмыс істеп тұрады</a:t>
            </a:r>
            <a:endParaRPr lang="en-US" sz="1250" dirty="0"/>
          </a:p>
        </p:txBody>
      </p:sp>
      <p:sp>
        <p:nvSpPr>
          <p:cNvPr id="11" name="тезис 3"/>
          <p:cNvSpPr/>
          <p:nvPr/>
        </p:nvSpPr>
        <p:spPr>
          <a:xfrm>
            <a:off x="6080760" y="3145536"/>
            <a:ext cx="2606040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Қазақ тілінде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51129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интерфейс пен түсіндірмелер толық қазақша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Басқару кабинасы</a:t>
            </a:r>
            <a:endParaRPr lang="en-US" sz="3000" dirty="0"/>
          </a:p>
        </p:txBody>
      </p:sp>
      <p:pic>
        <p:nvPicPr>
          <p:cNvPr id="3" name="Image 0" descr="Сайттан скриншот: басқару кабинасы, ITER класты режи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760720" cy="3602736"/>
          </a:xfrm>
          <a:prstGeom prst="rect">
            <a:avLst/>
          </a:prstGeom>
        </p:spPr>
      </p:pic>
      <p:sp>
        <p:nvSpPr>
          <p:cNvPr id="4" name="панель 1"/>
          <p:cNvSpPr/>
          <p:nvPr/>
        </p:nvSpPr>
        <p:spPr>
          <a:xfrm>
            <a:off x="6400800" y="1051560"/>
            <a:ext cx="22860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19672" y="11155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</a:rPr>
              <a:t>Тарих графиктері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519672" y="1389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T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n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P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син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τ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сәулелену шығыны</a:t>
            </a:r>
            <a:endParaRPr lang="en-US" sz="1200" dirty="0"/>
          </a:p>
        </p:txBody>
      </p:sp>
      <p:sp>
        <p:nvSpPr>
          <p:cNvPr id="7" name="панель 2"/>
          <p:cNvSpPr/>
          <p:nvPr/>
        </p:nvSpPr>
        <p:spPr>
          <a:xfrm>
            <a:off x="6400800" y="2039112"/>
            <a:ext cx="22860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19672" y="2103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</a:rPr>
              <a:t>Қуат және жылу ағыны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19672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қуат балансы, дивертор жылу картасы, МГД осциллографы</a:t>
            </a:r>
            <a:endParaRPr lang="en-US" sz="1200" dirty="0"/>
          </a:p>
        </p:txBody>
      </p:sp>
      <p:sp>
        <p:nvSpPr>
          <p:cNvPr id="10" name="панель 3"/>
          <p:cNvSpPr/>
          <p:nvPr/>
        </p:nvSpPr>
        <p:spPr>
          <a:xfrm>
            <a:off x="6400800" y="3026664"/>
            <a:ext cx="22860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9672" y="3090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</a:rPr>
              <a:t>Оператор басқаруы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519672" y="33649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NBI, ICRH, ECRH, газ, I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B</a:t>
            </a:r>
            <a:pPr indent="0" marL="0">
              <a:buNone/>
            </a:pPr>
            <a:r>
              <a:rPr lang="en-US" sz="1200" baseline="-40000" dirty="0">
                <a:solidFill>
                  <a:schemeClr val="tx1"/>
                </a:solidFill>
              </a:rPr>
              <a:t>t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пеллет, ELM, дизрупция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40416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Скриншотта: Q = 9.70, P</a:t>
            </a:r>
            <a:pPr indent="0" marL="0">
              <a:buNone/>
            </a:pPr>
            <a:r>
              <a:rPr lang="en-US" sz="1200" baseline="-40000" dirty="0">
                <a:solidFill>
                  <a:schemeClr val="accent3"/>
                </a:solidFill>
              </a:rPr>
              <a:t>син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= 485 МВт (ITER класы, тұрақты жану)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12 құрылғы — бір модельде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TM"/>
          <p:cNvSpPr/>
          <p:nvPr/>
        </p:nvSpPr>
        <p:spPr>
          <a:xfrm>
            <a:off x="6080760" y="1097280"/>
            <a:ext cx="2606040" cy="3520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KTM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45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Қазақстан материалтану токамағы (ҚР ҰЯО, Курчатов)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R₀ / 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0.86 / 0.43 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3081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308152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1.0 Тл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36484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</a:t>
            </a:r>
            <a:pPr indent="0" marL="0">
              <a:buNone/>
            </a:pPr>
            <a:r>
              <a:rPr lang="en-US" sz="1400" baseline="-40000" dirty="0">
                <a:solidFill>
                  <a:schemeClr val="tx2"/>
                </a:solidFill>
              </a:rPr>
              <a:t>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364845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0.75 МА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Салыстыру: бір модель, бір интерфейс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Валидация: ITER Q = 10</a:t>
            </a:r>
            <a:endParaRPr lang="en-US" sz="3000" dirty="0"/>
          </a:p>
        </p:txBody>
      </p:sp>
      <p:sp>
        <p:nvSpPr>
          <p:cNvPr id="3" name="көрсеткіш 30"/>
          <p:cNvSpPr/>
          <p:nvPr/>
        </p:nvSpPr>
        <p:spPr>
          <a:xfrm>
            <a:off x="457200" y="1097280"/>
            <a:ext cx="16002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30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019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шама салыстырылды</a:t>
            </a:r>
            <a:endParaRPr lang="en-US" sz="1250" dirty="0"/>
          </a:p>
        </p:txBody>
      </p:sp>
      <p:sp>
        <p:nvSpPr>
          <p:cNvPr id="6" name="көрсеткіш 0.93 %"/>
          <p:cNvSpPr/>
          <p:nvPr/>
        </p:nvSpPr>
        <p:spPr>
          <a:xfrm>
            <a:off x="2148840" y="1097280"/>
            <a:ext cx="16002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40280" y="128016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4"/>
                </a:solidFill>
              </a:rPr>
              <a:t>0.93 %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9019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орташа ауытқу</a:t>
            </a:r>
            <a:endParaRPr lang="en-US" sz="1250" dirty="0"/>
          </a:p>
        </p:txBody>
      </p:sp>
      <p:sp>
        <p:nvSpPr>
          <p:cNvPr id="9" name="көрсеткіш 5.52 %"/>
          <p:cNvSpPr/>
          <p:nvPr/>
        </p:nvSpPr>
        <p:spPr>
          <a:xfrm>
            <a:off x="457200" y="2560320"/>
            <a:ext cx="16002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5.52 %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6499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ең үлкен ауытқу</a:t>
            </a:r>
            <a:endParaRPr lang="en-US" sz="1250" dirty="0"/>
          </a:p>
        </p:txBody>
      </p:sp>
      <p:sp>
        <p:nvSpPr>
          <p:cNvPr id="12" name="көрсеткіш 79 / 79"/>
          <p:cNvSpPr/>
          <p:nvPr/>
        </p:nvSpPr>
        <p:spPr>
          <a:xfrm>
            <a:off x="2148840" y="2560320"/>
            <a:ext cx="16002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74320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79 / 79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36499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компонент тексеруі өтті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Валидацияланбағандар тізімі ашық: validation.py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097280"/>
          <a:ext cx="4754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Шама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ITER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Ауытқу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Синтез қуаты, МВт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498.0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−0.41 %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Күшею коэфф. Q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9.96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−0.41 %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τ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baseline="-400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, с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3.683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3.700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−0.46 %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Жылу энергиясы, МДж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317.9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325.0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−2.18 %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β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baseline="-40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1.698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1.770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−4.05 %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⟨T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baseline="-400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⟩, кэВ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8.408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8.900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−5.52 %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3931920" y="4069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Эталон: ITER Physics Basis (1999). Ең үлкен ауытқу — 0D модельде электрон мен ион температурасының бөлінбеуінен.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Google DeepMind TORAX-пен салыстыру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52044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TORAX (Google DeepMind)</a:t>
                      </a:r>
                      <a:endParaRPr lang="en-US" sz="13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SINTEZ</a:t>
                      </a:r>
                      <a:endParaRPr lang="en-US" sz="13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Мақсаты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Өзек тасымалының жылдам симуляторы: пульс және контроллер жобалау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Интерактивті 0D + 1.5D симулятор: оқыту, салыстыру, жылдам бағалау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Платформа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Python + JAX; автоматты дифференциалдау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Python (NumPy/SciPy), FastAPI; JS/WebGL клиент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Теңдеулер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Ион/электрон жылуы, бөлшек, ток диффузиясы; Newton–Raphson, оңтайландыру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Te/Ti/ne тасымалы, ток диффузиясы + МГД, дизрупция, SOL, отын циклі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Суррогат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QLKNN — QuaLiKiz кодының суррогаты (~10⁴ есе жылдам)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MLP 11→128→64→1; өз аналитикалық заңдарымыздан оқытылған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Валидация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RAPTOR кодымен салыстырылған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ITER Q=10: 30 шама, орташа 0.93 %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Басқару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Градиентті оңтайландыру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кГц тұйық контур: PPO + QP-сүзгі</a:t>
                      </a:r>
                      <a:endParaRPr lang="en-US" sz="12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ескерту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Адал ескерту: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біздің суррогат QLKNN-нің баламасы емес — ол гирокинетикаға емес, өз тасымал заңдарымызға оқытылған, сондықтан жылдамдық бермейді (122 vs 148 мкс).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Модельдерді оқыту және формулалар</a:t>
            </a:r>
            <a:endParaRPr lang="en-US" sz="3000" dirty="0"/>
          </a:p>
        </p:txBody>
      </p:sp>
      <p:sp>
        <p:nvSpPr>
          <p:cNvPr id="3" name="суррогат"/>
          <p:cNvSpPr/>
          <p:nvPr/>
        </p:nvSpPr>
        <p:spPr>
          <a:xfrm>
            <a:off x="457200" y="1051560"/>
            <a:ext cx="411480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 · Тасымал суррогаты (MLP)</a:t>
            </a:r>
            <a:endParaRPr lang="en-US" sz="1500" dirty="0"/>
          </a:p>
        </p:txBody>
      </p:sp>
      <p:sp>
        <p:nvSpPr>
          <p:cNvPr id="5" name="chip 65 000 үлгі"/>
          <p:cNvSpPr/>
          <p:nvPr/>
        </p:nvSpPr>
        <p:spPr>
          <a:xfrm>
            <a:off x="640080" y="1508760"/>
            <a:ext cx="118872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65 000 үлгі</a:t>
            </a:r>
            <a:endParaRPr lang="en-US" sz="1150" dirty="0"/>
          </a:p>
        </p:txBody>
      </p:sp>
      <p:sp>
        <p:nvSpPr>
          <p:cNvPr id="7" name="chip Нормалау"/>
          <p:cNvSpPr/>
          <p:nvPr/>
        </p:nvSpPr>
        <p:spPr>
          <a:xfrm>
            <a:off x="1920240" y="1508760"/>
            <a:ext cx="109728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5087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Нормалау</a:t>
            </a:r>
            <a:endParaRPr lang="en-US" sz="1150" dirty="0"/>
          </a:p>
        </p:txBody>
      </p:sp>
      <p:sp>
        <p:nvSpPr>
          <p:cNvPr id="9" name="chip MLP + Adam"/>
          <p:cNvSpPr/>
          <p:nvPr/>
        </p:nvSpPr>
        <p:spPr>
          <a:xfrm>
            <a:off x="3108960" y="1508760"/>
            <a:ext cx="128016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15087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MLP + Adam</a:t>
            </a:r>
            <a:endParaRPr lang="en-US" sz="1150" dirty="0"/>
          </a:p>
        </p:txBody>
      </p:sp>
      <p:pic>
        <p:nvPicPr>
          <p:cNvPr id="11" name="Image 0" descr="формула f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57400"/>
            <a:ext cx="3749040" cy="551637"/>
          </a:xfrm>
          <a:prstGeom prst="rect">
            <a:avLst/>
          </a:prstGeom>
        </p:spPr>
      </p:pic>
      <p:pic>
        <p:nvPicPr>
          <p:cNvPr id="12" name="Image 1" descr="формула f_ml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97480"/>
            <a:ext cx="3749040" cy="529261"/>
          </a:xfrm>
          <a:prstGeom prst="rect">
            <a:avLst/>
          </a:prstGeom>
        </p:spPr>
      </p:pic>
      <p:pic>
        <p:nvPicPr>
          <p:cNvPr id="13" name="Image 2" descr="формула f_lo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83280"/>
            <a:ext cx="2103120" cy="39019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17520" y="34015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R² (тест) = 0.943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MAE = 0.76 м²/с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9 857 параметр; инференс — таза NumPy; χ-ны шектеу: 0.05–15 м²/с</a:t>
            </a:r>
            <a:endParaRPr lang="en-US" sz="1200" dirty="0"/>
          </a:p>
        </p:txBody>
      </p:sp>
      <p:sp>
        <p:nvSpPr>
          <p:cNvPr id="16" name="rl"/>
          <p:cNvSpPr/>
          <p:nvPr/>
        </p:nvSpPr>
        <p:spPr>
          <a:xfrm>
            <a:off x="4754880" y="1051560"/>
            <a:ext cx="393192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2 · RL-контроллер (PPO)</a:t>
            </a:r>
            <a:endParaRPr lang="en-US" sz="1500" dirty="0"/>
          </a:p>
        </p:txBody>
      </p:sp>
      <p:sp>
        <p:nvSpPr>
          <p:cNvPr id="18" name="chip ПД → BC"/>
          <p:cNvSpPr/>
          <p:nvPr/>
        </p:nvSpPr>
        <p:spPr>
          <a:xfrm>
            <a:off x="4937760" y="1508760"/>
            <a:ext cx="109728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937760" y="15087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ПД → BC</a:t>
            </a:r>
            <a:endParaRPr lang="en-US" sz="1150" dirty="0"/>
          </a:p>
        </p:txBody>
      </p:sp>
      <p:sp>
        <p:nvSpPr>
          <p:cNvPr id="20" name="chip PPO + GAE"/>
          <p:cNvSpPr/>
          <p:nvPr/>
        </p:nvSpPr>
        <p:spPr>
          <a:xfrm>
            <a:off x="6126480" y="1508760"/>
            <a:ext cx="109728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26480" y="15087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PPO + GAE</a:t>
            </a:r>
            <a:endParaRPr lang="en-US" sz="1150" dirty="0"/>
          </a:p>
        </p:txBody>
      </p:sp>
      <p:sp>
        <p:nvSpPr>
          <p:cNvPr id="22" name="chip Рандомизация"/>
          <p:cNvSpPr/>
          <p:nvPr/>
        </p:nvSpPr>
        <p:spPr>
          <a:xfrm>
            <a:off x="7315200" y="1508760"/>
            <a:ext cx="118872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0" y="15087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Рандомизация</a:t>
            </a:r>
            <a:endParaRPr lang="en-US" sz="1150" dirty="0"/>
          </a:p>
        </p:txBody>
      </p:sp>
      <p:pic>
        <p:nvPicPr>
          <p:cNvPr id="24" name="Image 3" descr="формула f_p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3566160" cy="570051"/>
          </a:xfrm>
          <a:prstGeom prst="rect">
            <a:avLst/>
          </a:prstGeom>
        </p:spPr>
      </p:pic>
      <p:pic>
        <p:nvPicPr>
          <p:cNvPr id="25" name="Image 4" descr="формула f_ga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2788920"/>
            <a:ext cx="2103120" cy="65839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32320" y="28803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γ = 0.99, λ = 0.95, ε = 0.2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lr = 1e-4, 8 эпоха, minibatch 512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493776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Актор 24 072 параметр, 16 мкс; асимметриялы критик плант күйін көреді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Магниттік басқару модулі</a:t>
            </a:r>
            <a:endParaRPr lang="en-US" sz="3000" dirty="0"/>
          </a:p>
        </p:txBody>
      </p:sp>
      <p:sp>
        <p:nvSpPr>
          <p:cNvPr id="3" name="блок Симулятор 1 кГц"/>
          <p:cNvSpPr/>
          <p:nvPr/>
        </p:nvSpPr>
        <p:spPr>
          <a:xfrm>
            <a:off x="457200" y="1097280"/>
            <a:ext cx="10515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097280"/>
            <a:ext cx="960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Симулятор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1 кГц</a:t>
            </a:r>
            <a:endParaRPr lang="en-US" sz="1250" dirty="0"/>
          </a:p>
        </p:txBody>
      </p:sp>
      <p:sp>
        <p:nvSpPr>
          <p:cNvPr id="5" name="блок Датчиктер + кідіріс 1–3 мс"/>
          <p:cNvSpPr/>
          <p:nvPr/>
        </p:nvSpPr>
        <p:spPr>
          <a:xfrm>
            <a:off x="1783080" y="1097280"/>
            <a:ext cx="10515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097280"/>
            <a:ext cx="960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Датчиктер + кідіріс 1–3 мс</a:t>
            </a:r>
            <a:endParaRPr lang="en-US" sz="1250" dirty="0"/>
          </a:p>
        </p:txBody>
      </p:sp>
      <p:sp>
        <p:nvSpPr>
          <p:cNvPr id="7" name="блок Нейро-контроллер"/>
          <p:cNvSpPr/>
          <p:nvPr/>
        </p:nvSpPr>
        <p:spPr>
          <a:xfrm>
            <a:off x="3108960" y="1097280"/>
            <a:ext cx="10515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54680" y="1097280"/>
            <a:ext cx="960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Нейро-контроллер</a:t>
            </a:r>
            <a:endParaRPr lang="en-US" sz="1250" dirty="0"/>
          </a:p>
        </p:txBody>
      </p:sp>
      <p:sp>
        <p:nvSpPr>
          <p:cNvPr id="9" name="блок QP-сүзгі"/>
          <p:cNvSpPr/>
          <p:nvPr/>
        </p:nvSpPr>
        <p:spPr>
          <a:xfrm>
            <a:off x="4434840" y="1097280"/>
            <a:ext cx="868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109728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accent4"/>
                </a:solidFill>
              </a:rPr>
              <a:t>QP-сүзгі</a:t>
            </a:r>
            <a:endParaRPr lang="en-US" sz="1250" dirty="0"/>
          </a:p>
        </p:txBody>
      </p:sp>
      <p:sp>
        <p:nvSpPr>
          <p:cNvPr id="11" name="arrow"/>
          <p:cNvSpPr/>
          <p:nvPr/>
        </p:nvSpPr>
        <p:spPr>
          <a:xfrm>
            <a:off x="1508760" y="1453896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arrow"/>
          <p:cNvSpPr/>
          <p:nvPr/>
        </p:nvSpPr>
        <p:spPr>
          <a:xfrm>
            <a:off x="2834640" y="1453896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arrow"/>
          <p:cNvSpPr/>
          <p:nvPr/>
        </p:nvSpPr>
        <p:spPr>
          <a:xfrm>
            <a:off x="4160520" y="1453896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кері байланыс"/>
          <p:cNvSpPr/>
          <p:nvPr/>
        </p:nvSpPr>
        <p:spPr>
          <a:xfrm>
            <a:off x="822960" y="2011680"/>
            <a:ext cx="40233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</a:ln>
        </p:spPr>
      </p:sp>
      <p:sp>
        <p:nvSpPr>
          <p:cNvPr id="15" name="кері байланыс 2"/>
          <p:cNvSpPr/>
          <p:nvPr/>
        </p:nvSpPr>
        <p:spPr>
          <a:xfrm>
            <a:off x="4846320" y="1810512"/>
            <a:ext cx="0" cy="201168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</a:ln>
        </p:spPr>
      </p:sp>
      <p:sp>
        <p:nvSpPr>
          <p:cNvPr id="16" name="кері байланыс 3"/>
          <p:cNvSpPr/>
          <p:nvPr/>
        </p:nvSpPr>
        <p:spPr>
          <a:xfrm flipV="1">
            <a:off x="822960" y="1810512"/>
            <a:ext cx="0" cy="201168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46304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катушка кернеулері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23317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Плант: тізбек теңдеуі</a:t>
            </a:r>
            <a:endParaRPr lang="en-US" sz="1150" dirty="0"/>
          </a:p>
        </p:txBody>
      </p:sp>
      <p:pic>
        <p:nvPicPr>
          <p:cNvPr id="19" name="Image 0" descr="формула f_circu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560320"/>
            <a:ext cx="2377440" cy="390515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02920" y="30175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4"/>
                </a:solidFill>
              </a:rPr>
              <a:t>QP қауіпсіздік сүзгісі</a:t>
            </a:r>
            <a:endParaRPr lang="en-US" sz="1150" dirty="0"/>
          </a:p>
        </p:txBody>
      </p:sp>
      <p:pic>
        <p:nvPicPr>
          <p:cNvPr id="21" name="Image 1" descr="формула f_q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46120"/>
            <a:ext cx="4572000" cy="68799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02920" y="4114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Плазма тік тұрақсыз: γ ≈ 79 с⁻¹ (KTM-ға ұқсас параметрлер)</a:t>
            </a:r>
            <a:endParaRPr lang="en-US" sz="12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0" y="1051560"/>
          <a:ext cx="3200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нәтиже"/>
          <p:cNvSpPr/>
          <p:nvPr/>
        </p:nvSpPr>
        <p:spPr>
          <a:xfrm>
            <a:off x="5486400" y="361188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623560" y="36576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Аман қалу: </a:t>
            </a:r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ПИД 24/30, PPO 28/30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Тек модельдеуде; QP шекті кепілдемейді.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Авторлық құқық куәлігі</a:t>
            </a:r>
            <a:endParaRPr lang="en-US" sz="3000" dirty="0"/>
          </a:p>
        </p:txBody>
      </p:sp>
      <p:pic>
        <p:nvPicPr>
          <p:cNvPr id="3" name="Image 0" descr="Авторлық құқық куәлігі № 7897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2587752" cy="3657600"/>
          </a:xfrm>
          <a:prstGeom prst="rect">
            <a:avLst/>
          </a:prstGeom>
        </p:spPr>
      </p:pic>
      <p:sp>
        <p:nvSpPr>
          <p:cNvPr id="4" name="куәлік Куәлік"/>
          <p:cNvSpPr/>
          <p:nvPr/>
        </p:nvSpPr>
        <p:spPr>
          <a:xfrm>
            <a:off x="3474720" y="1005840"/>
            <a:ext cx="52120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39312" y="10698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1"/>
                </a:solidFill>
              </a:rPr>
              <a:t>КУӘЛІК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39312" y="1280160"/>
            <a:ext cx="4892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№ 78976, 2026 жылғы 28 қыркүйек</a:t>
            </a:r>
            <a:endParaRPr lang="en-US" sz="1350" dirty="0"/>
          </a:p>
        </p:txBody>
      </p:sp>
      <p:sp>
        <p:nvSpPr>
          <p:cNvPr id="7" name="куәлік Объект түрі"/>
          <p:cNvSpPr/>
          <p:nvPr/>
        </p:nvSpPr>
        <p:spPr>
          <a:xfrm>
            <a:off x="3474720" y="1664208"/>
            <a:ext cx="52120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39312" y="172821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1"/>
                </a:solidFill>
              </a:rPr>
              <a:t>ОБЪЕКТ ТҮРІ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639312" y="1938528"/>
            <a:ext cx="4892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компьютерлік бағдарлама (бағдарламалық қамтылым)</a:t>
            </a:r>
            <a:endParaRPr lang="en-US" sz="1350" dirty="0"/>
          </a:p>
        </p:txBody>
      </p:sp>
      <p:sp>
        <p:nvSpPr>
          <p:cNvPr id="10" name="куәлік Атауы"/>
          <p:cNvSpPr/>
          <p:nvPr/>
        </p:nvSpPr>
        <p:spPr>
          <a:xfrm>
            <a:off x="3474720" y="2322576"/>
            <a:ext cx="52120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9312" y="238658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1"/>
                </a:solidFill>
              </a:rPr>
              <a:t>АТАУЫ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639312" y="2596896"/>
            <a:ext cx="48920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SINTEZ: токамак реакторындағы термоядролық синтез процесін нақты физикалық модельдер арқылы есептейтін интерактивті симулятор</a:t>
            </a:r>
            <a:endParaRPr lang="en-US" sz="1350" dirty="0"/>
          </a:p>
        </p:txBody>
      </p:sp>
      <p:sp>
        <p:nvSpPr>
          <p:cNvPr id="13" name="куәлік Жасалған күні"/>
          <p:cNvSpPr/>
          <p:nvPr/>
        </p:nvSpPr>
        <p:spPr>
          <a:xfrm>
            <a:off x="3474720" y="3511296"/>
            <a:ext cx="52120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39312" y="357530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1"/>
                </a:solidFill>
              </a:rPr>
              <a:t>ЖАСАЛҒАН КҮНІ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639312" y="3785616"/>
            <a:ext cx="4892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23.09.2026</a:t>
            </a:r>
            <a:endParaRPr lang="en-US" sz="1350" dirty="0"/>
          </a:p>
        </p:txBody>
      </p:sp>
      <p:sp>
        <p:nvSpPr>
          <p:cNvPr id="16" name="куәлік Авторлар"/>
          <p:cNvSpPr/>
          <p:nvPr/>
        </p:nvSpPr>
        <p:spPr>
          <a:xfrm>
            <a:off x="3474720" y="4169664"/>
            <a:ext cx="52120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39312" y="423367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1"/>
                </a:solidFill>
              </a:rPr>
              <a:t>АВТОРЛАР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39312" y="4443984"/>
            <a:ext cx="4892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Уәлихан Алмагүл Шоқанқызы, Ермекұлы Бейбарыс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Қорытынды және жоспар</a:t>
            </a:r>
            <a:endParaRPr lang="en-US" sz="3000" dirty="0"/>
          </a:p>
        </p:txBody>
      </p:sp>
      <p:sp>
        <p:nvSpPr>
          <p:cNvPr id="3" name="қорытынды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4"/>
                </a:solidFill>
              </a:rPr>
              <a:t>НӘТИЖЕ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Нақты физика теңдеулері браузерде нақты уақытта шешіледі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ITER Q = 10 режимі: 30 шама, орташа ауытқу 0.93 %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12 құрылғы, соның ішінде қазақстандық KTM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Интерфейс пен құжаттама қазақ тілінде</a:t>
            </a:r>
            <a:endParaRPr lang="en-US" sz="1700" dirty="0"/>
          </a:p>
        </p:txBody>
      </p:sp>
      <p:sp>
        <p:nvSpPr>
          <p:cNvPr id="6" name="шектеулер"/>
          <p:cNvSpPr/>
          <p:nvPr/>
        </p:nvSpPr>
        <p:spPr>
          <a:xfrm>
            <a:off x="4663440" y="1097280"/>
            <a:ext cx="40233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6350">
            <a:solidFill>
              <a:schemeClr val="tx2">
                <a:alpha val="30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070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3"/>
                </a:solidFill>
              </a:rPr>
              <a:t>ШЕКТЕУЛЕР ЖӘНЕ ЖОСПАР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0876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Турбуленттік тасымал эмпирикалық, гирокинетика жоқ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МГД — редукцияланған модельдер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Суррогатты нақты тәжірибелік деректерге оқыту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Контроллер тек симуляцияда тексерілген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Назарларыңызға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рақмет!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SINTEZ — онлайн демо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QR-кодты сканерлеп, симуляторды өз құрылғыңызда ашыңыз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Уәлихан А.Ш., Ермекұлы Б.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Қожа Ахмет Яссауи атындағы ХҚТУ, Түркістан</a:t>
            </a:r>
            <a:endParaRPr lang="en-US" sz="1300" dirty="0"/>
          </a:p>
        </p:txBody>
      </p:sp>
      <p:sp>
        <p:nvSpPr>
          <p:cNvPr id="6" name="QR фон"/>
          <p:cNvSpPr/>
          <p:nvPr/>
        </p:nvSpPr>
        <p:spPr>
          <a:xfrm>
            <a:off x="5669280" y="914400"/>
            <a:ext cx="29260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QR-код: https://tokomak-production.up.railway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051560"/>
            <a:ext cx="2651760" cy="2651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9496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tokomak-production.up.railway.app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NTEZ Plasma">
  <a:themeElements>
    <a:clrScheme name="SINTEZ Plasma">
      <a:dk1>
        <a:srgbClr val="EEF1FF"/>
      </a:dk1>
      <a:lt1>
        <a:srgbClr val="0B0F1E"/>
      </a:lt1>
      <a:dk2>
        <a:srgbClr val="9AA6D0"/>
      </a:dk2>
      <a:lt2>
        <a:srgbClr val="141B36"/>
      </a:lt2>
      <a:accent1>
        <a:srgbClr val="3EE0F0"/>
      </a:accent1>
      <a:accent2>
        <a:srgbClr val="E94CC8"/>
      </a:accent2>
      <a:accent3>
        <a:srgbClr val="FFB24A"/>
      </a:accent3>
      <a:accent4>
        <a:srgbClr val="5BE3A0"/>
      </a:accent4>
      <a:accent5>
        <a:srgbClr val="7C8CFF"/>
      </a:accent5>
      <a:accent6>
        <a:srgbClr val="FF6B6B"/>
      </a:accent6>
      <a:hlink>
        <a:srgbClr val="3EE0F0"/>
      </a:hlink>
      <a:folHlink>
        <a:srgbClr val="9AA6D0"/>
      </a:folHlink>
    </a:clrScheme>
    <a:fontScheme name="SINTEZ Plasm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Қожа Ахмет Яссауи атындағы ХҚТУ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SINTEZ: интерактивті токамак симуляторы</dc:title>
  <dc:subject>PptxGenJS Presentation</dc:subject>
  <dc:creator>Уәлихан А.Ш., Ермекұлы Б.</dc:creator>
  <cp:lastModifiedBy>Уәлихан А.Ш., Ермекұлы Б.</cp:lastModifiedBy>
  <cp:revision>1</cp:revision>
  <dcterms:created xsi:type="dcterms:W3CDTF">2026-10-12T06:37:06Z</dcterms:created>
  <dcterms:modified xsi:type="dcterms:W3CDTF">2026-10-12T06:37:06Z</dcterms:modified>
</cp:coreProperties>
</file>